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 name="Slide 1">
    <p:bg>
      <p:bgPr>
        <a:solidFill>
          <a:srgbClr val="DFE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0"/>
          <p:cNvSpPr/>
          <p:nvPr/>
        </p:nvSpPr>
        <p:spPr>
          <a:xfrm rot="480000">
            <a:off x="6339840" y="715645"/>
            <a:ext cx="1974850" cy="1974850"/>
          </a:xfrm>
          <a:prstGeom prst="diamond">
            <a:avLst/>
          </a:prstGeom>
          <a:solidFill>
            <a:srgbClr val="EFC45E">
              <a:alpha val="35000"/>
            </a:srgbClr>
          </a:solidFill>
          <a:ln/>
        </p:spPr>
      </p:sp>
      <p:sp>
        <p:nvSpPr>
          <p:cNvPr id="3" name="deco1"/>
          <p:cNvSpPr/>
          <p:nvPr/>
        </p:nvSpPr>
        <p:spPr>
          <a:xfrm>
            <a:off x="487680" y="4047490"/>
            <a:ext cx="1079500" cy="1079500"/>
          </a:xfrm>
          <a:prstGeom prst="ellipse">
            <a:avLst/>
          </a:prstGeom>
          <a:solidFill>
            <a:srgbClr val="8FA0D2">
              <a:alpha val="60000"/>
            </a:srgbClr>
          </a:solidFill>
          <a:ln/>
        </p:spPr>
      </p:sp>
      <p:sp>
        <p:nvSpPr>
          <p:cNvPr id="4" name="deco2"/>
          <p:cNvSpPr/>
          <p:nvPr/>
        </p:nvSpPr>
        <p:spPr>
          <a:xfrm rot="-240000">
            <a:off x="121920" y="5631815"/>
            <a:ext cx="1638300" cy="1638300"/>
          </a:xfrm>
          <a:prstGeom prst="roundRect">
            <a:avLst>
              <a:gd name="adj" fmla="val 10047"/>
            </a:avLst>
          </a:prstGeom>
          <a:solidFill>
            <a:srgbClr val="EFC45E">
              <a:alpha val="37000"/>
            </a:srgbClr>
          </a:solidFill>
          <a:ln/>
        </p:spPr>
      </p:sp>
      <p:sp>
        <p:nvSpPr>
          <p:cNvPr id="5" name="deco3"/>
          <p:cNvSpPr/>
          <p:nvPr/>
        </p:nvSpPr>
        <p:spPr>
          <a:xfrm>
            <a:off x="12500610" y="671195"/>
            <a:ext cx="1073150" cy="1073150"/>
          </a:xfrm>
          <a:prstGeom prst="hexagon">
            <a:avLst/>
          </a:prstGeom>
          <a:solidFill>
            <a:srgbClr val="5C77BC">
              <a:alpha val="11000"/>
            </a:srgbClr>
          </a:solidFill>
          <a:ln/>
        </p:spPr>
      </p:sp>
      <p:sp>
        <p:nvSpPr>
          <p:cNvPr id="6" name="deco4"/>
          <p:cNvSpPr/>
          <p:nvPr/>
        </p:nvSpPr>
        <p:spPr>
          <a:xfrm>
            <a:off x="14632940" y="5471160"/>
            <a:ext cx="1441450" cy="1441450"/>
          </a:xfrm>
          <a:prstGeom prst="triangle">
            <a:avLst/>
          </a:prstGeom>
          <a:solidFill>
            <a:srgbClr val="EFC45E">
              <a:alpha val="19000"/>
            </a:srgbClr>
          </a:solidFill>
          <a:ln/>
        </p:spPr>
      </p:sp>
      <p:sp>
        <p:nvSpPr>
          <p:cNvPr id="7" name="deco5"/>
          <p:cNvSpPr/>
          <p:nvPr/>
        </p:nvSpPr>
        <p:spPr>
          <a:xfrm>
            <a:off x="3169920" y="8608060"/>
            <a:ext cx="952500" cy="952500"/>
          </a:xfrm>
          <a:prstGeom prst="ellipse">
            <a:avLst/>
          </a:prstGeom>
          <a:solidFill>
            <a:srgbClr val="5C77BC">
              <a:alpha val="18000"/>
            </a:srgbClr>
          </a:solidFill>
          <a:ln/>
        </p:spPr>
      </p:sp>
      <p:sp>
        <p:nvSpPr>
          <p:cNvPr id="8" name="deco6"/>
          <p:cNvSpPr/>
          <p:nvPr/>
        </p:nvSpPr>
        <p:spPr>
          <a:xfrm>
            <a:off x="10943590" y="7863840"/>
            <a:ext cx="1073150" cy="1073150"/>
          </a:xfrm>
          <a:prstGeom prst="star5">
            <a:avLst/>
          </a:prstGeom>
          <a:solidFill>
            <a:srgbClr val="EFC45E">
              <a:alpha val="14000"/>
            </a:srgbClr>
          </a:solidFill>
          <a:ln/>
        </p:spPr>
      </p:sp>
      <p:sp>
        <p:nvSpPr>
          <p:cNvPr id="9" name="deco7"/>
          <p:cNvSpPr/>
          <p:nvPr/>
        </p:nvSpPr>
        <p:spPr>
          <a:xfrm>
            <a:off x="-1648460" y="859155"/>
            <a:ext cx="1054100" cy="1054100"/>
          </a:xfrm>
          <a:prstGeom prst="pentagon">
            <a:avLst/>
          </a:prstGeom>
          <a:solidFill>
            <a:srgbClr val="8FA0D2">
              <a:alpha val="13000"/>
            </a:srgbClr>
          </a:solidFill>
          <a:ln/>
        </p:spPr>
      </p:sp>
      <p:sp>
        <p:nvSpPr>
          <p:cNvPr id="10" name="deco8"/>
          <p:cNvSpPr/>
          <p:nvPr/>
        </p:nvSpPr>
        <p:spPr>
          <a:xfrm>
            <a:off x="14214475" y="2691130"/>
            <a:ext cx="1568450" cy="1568450"/>
          </a:xfrm>
          <a:prstGeom prst="ellipse">
            <a:avLst/>
          </a:prstGeom>
          <a:solidFill>
            <a:srgbClr val="EFC45E">
              <a:alpha val="17000"/>
            </a:srgbClr>
          </a:solidFill>
          <a:ln/>
        </p:spPr>
      </p:sp>
      <p:sp>
        <p:nvSpPr>
          <p:cNvPr id="11" name="cardFrame"/>
          <p:cNvSpPr/>
          <p:nvPr/>
        </p:nvSpPr>
        <p:spPr>
          <a:xfrm>
            <a:off x="981075" y="866140"/>
            <a:ext cx="10138410" cy="5457825"/>
          </a:xfrm>
          <a:prstGeom prst="rect">
            <a:avLst/>
          </a:prstGeom>
          <a:ln w="38100">
            <a:solidFill>
              <a:srgbClr val="5C77BC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979170"/>
            <a:ext cx="2177415" cy="217741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21790" y="1284605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Erbil Polytechnic University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21790" y="1664335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AIRE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0" y="3076575"/>
            <a:ext cx="1219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main requirement for training ai model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1341120" y="4105275"/>
            <a:ext cx="254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Prepared: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501775" y="4667250"/>
            <a:ext cx="355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1- Fuad Ahmed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701280" y="5043805"/>
            <a:ext cx="355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Dr. Nashat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701280" y="5537200"/>
            <a:ext cx="355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2026 – 2027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 accel="20000" decel="4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accel="20000" decel="4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600" fill="hold" accel="20000" decel="40000"/>
                                        <p:tgtEl>
                                          <p:spTgt spid="12"/>
                                        </p:tgtEl>
                                      </p:cBhvr>
                                      <p:from x="72000" y="7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 accel="20000" decel="4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 accel="20000" decel="4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 accel="20000" decel="4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 accel="20000" decel="4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 name="Slide 2">
    <p:bg>
      <p:bgPr>
        <a:solidFill>
          <a:srgbClr val="DFE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0"/>
          <p:cNvSpPr/>
          <p:nvPr/>
        </p:nvSpPr>
        <p:spPr>
          <a:xfrm rot="900000">
            <a:off x="6864350" y="641985"/>
            <a:ext cx="1974850" cy="1974850"/>
          </a:xfrm>
          <a:prstGeom prst="hexagon">
            <a:avLst/>
          </a:prstGeom>
          <a:solidFill>
            <a:srgbClr val="EFC45E">
              <a:alpha val="35000"/>
            </a:srgbClr>
          </a:solidFill>
          <a:ln/>
        </p:spPr>
      </p:sp>
      <p:sp>
        <p:nvSpPr>
          <p:cNvPr id="3" name="deco1"/>
          <p:cNvSpPr/>
          <p:nvPr/>
        </p:nvSpPr>
        <p:spPr>
          <a:xfrm>
            <a:off x="981075" y="3992880"/>
            <a:ext cx="1079500" cy="1079500"/>
          </a:xfrm>
          <a:prstGeom prst="ellipse">
            <a:avLst/>
          </a:prstGeom>
          <a:solidFill>
            <a:srgbClr val="8FA0D2">
              <a:alpha val="60000"/>
            </a:srgbClr>
          </a:solidFill>
          <a:ln/>
        </p:spPr>
      </p:sp>
      <p:sp>
        <p:nvSpPr>
          <p:cNvPr id="4" name="deco2"/>
          <p:cNvSpPr/>
          <p:nvPr/>
        </p:nvSpPr>
        <p:spPr>
          <a:xfrm rot="-480000">
            <a:off x="394970" y="5605780"/>
            <a:ext cx="1638300" cy="1638300"/>
          </a:xfrm>
          <a:prstGeom prst="roundRect">
            <a:avLst>
              <a:gd name="adj" fmla="val 10047"/>
            </a:avLst>
          </a:prstGeom>
          <a:solidFill>
            <a:srgbClr val="EFC45E">
              <a:alpha val="37000"/>
            </a:srgbClr>
          </a:solidFill>
          <a:ln/>
        </p:spPr>
      </p:sp>
      <p:sp>
        <p:nvSpPr>
          <p:cNvPr id="5" name="deco3"/>
          <p:cNvSpPr/>
          <p:nvPr/>
        </p:nvSpPr>
        <p:spPr>
          <a:xfrm>
            <a:off x="12541250" y="668655"/>
            <a:ext cx="1073150" cy="1073150"/>
          </a:xfrm>
          <a:prstGeom prst="hexagon">
            <a:avLst/>
          </a:prstGeom>
          <a:solidFill>
            <a:srgbClr val="5C77BC">
              <a:alpha val="11000"/>
            </a:srgbClr>
          </a:solidFill>
          <a:ln/>
        </p:spPr>
      </p:sp>
      <p:sp>
        <p:nvSpPr>
          <p:cNvPr id="6" name="deco4"/>
          <p:cNvSpPr/>
          <p:nvPr/>
        </p:nvSpPr>
        <p:spPr>
          <a:xfrm>
            <a:off x="14740890" y="5463540"/>
            <a:ext cx="1441450" cy="1441450"/>
          </a:xfrm>
          <a:prstGeom prst="triangle">
            <a:avLst/>
          </a:prstGeom>
          <a:solidFill>
            <a:srgbClr val="EFC45E">
              <a:alpha val="19000"/>
            </a:srgbClr>
          </a:solidFill>
          <a:ln/>
        </p:spPr>
      </p:sp>
      <p:sp>
        <p:nvSpPr>
          <p:cNvPr id="7" name="deco5"/>
          <p:cNvSpPr/>
          <p:nvPr/>
        </p:nvSpPr>
        <p:spPr>
          <a:xfrm>
            <a:off x="3305175" y="8599170"/>
            <a:ext cx="952500" cy="952500"/>
          </a:xfrm>
          <a:prstGeom prst="ellipse">
            <a:avLst/>
          </a:prstGeom>
          <a:solidFill>
            <a:srgbClr val="5C77BC">
              <a:alpha val="18000"/>
            </a:srgbClr>
          </a:solidFill>
          <a:ln/>
        </p:spPr>
      </p:sp>
      <p:sp>
        <p:nvSpPr>
          <p:cNvPr id="8" name="deco6"/>
          <p:cNvSpPr/>
          <p:nvPr/>
        </p:nvSpPr>
        <p:spPr>
          <a:xfrm>
            <a:off x="11024235" y="7858760"/>
            <a:ext cx="1073150" cy="1073150"/>
          </a:xfrm>
          <a:prstGeom prst="star5">
            <a:avLst/>
          </a:prstGeom>
          <a:solidFill>
            <a:srgbClr val="EFC45E">
              <a:alpha val="14000"/>
            </a:srgbClr>
          </a:solidFill>
          <a:ln/>
        </p:spPr>
      </p:sp>
      <p:sp>
        <p:nvSpPr>
          <p:cNvPr id="9" name="deco7"/>
          <p:cNvSpPr/>
          <p:nvPr/>
        </p:nvSpPr>
        <p:spPr>
          <a:xfrm>
            <a:off x="-1594485" y="855345"/>
            <a:ext cx="1054100" cy="1054100"/>
          </a:xfrm>
          <a:prstGeom prst="pentagon">
            <a:avLst/>
          </a:prstGeom>
          <a:solidFill>
            <a:srgbClr val="8FA0D2">
              <a:alpha val="13000"/>
            </a:srgbClr>
          </a:solidFill>
          <a:ln/>
        </p:spPr>
      </p:sp>
      <p:sp>
        <p:nvSpPr>
          <p:cNvPr id="10" name="deco8"/>
          <p:cNvSpPr/>
          <p:nvPr/>
        </p:nvSpPr>
        <p:spPr>
          <a:xfrm>
            <a:off x="14309090" y="2684780"/>
            <a:ext cx="1568450" cy="1568450"/>
          </a:xfrm>
          <a:prstGeom prst="ellipse">
            <a:avLst/>
          </a:prstGeom>
          <a:solidFill>
            <a:srgbClr val="EFC45E">
              <a:alpha val="17000"/>
            </a:srgbClr>
          </a:solidFill>
          <a:ln/>
        </p:spPr>
      </p:sp>
      <p:sp>
        <p:nvSpPr>
          <p:cNvPr id="11" name="cardFrame"/>
          <p:cNvSpPr/>
          <p:nvPr/>
        </p:nvSpPr>
        <p:spPr>
          <a:xfrm>
            <a:off x="981075" y="866140"/>
            <a:ext cx="10138410" cy="5457825"/>
          </a:xfrm>
          <a:prstGeom prst="rect">
            <a:avLst/>
          </a:prstGeom>
          <a:ln w="38100">
            <a:solidFill>
              <a:srgbClr val="5C77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675" y="1259840"/>
            <a:ext cx="91732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i="1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Outline</a:t>
            </a:r>
            <a:endParaRPr lang="en-US" sz="3100" dirty="0"/>
          </a:p>
        </p:txBody>
      </p:sp>
      <p:sp>
        <p:nvSpPr>
          <p:cNvPr id="13" name="Shape 11"/>
          <p:cNvSpPr/>
          <p:nvPr/>
        </p:nvSpPr>
        <p:spPr>
          <a:xfrm>
            <a:off x="1463675" y="1888490"/>
            <a:ext cx="9173210" cy="12700"/>
          </a:xfrm>
          <a:prstGeom prst="rect">
            <a:avLst/>
          </a:prstGeom>
          <a:solidFill>
            <a:srgbClr val="5C77BC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65275" y="2265521"/>
            <a:ext cx="19050" cy="3471863"/>
          </a:xfrm>
          <a:prstGeom prst="rect">
            <a:avLst/>
          </a:prstGeom>
          <a:solidFill>
            <a:srgbClr val="8FA0D2"/>
          </a:solidFill>
          <a:ln/>
        </p:spPr>
      </p:sp>
      <p:sp>
        <p:nvSpPr>
          <p:cNvPr id="15" name="Shape 13"/>
          <p:cNvSpPr/>
          <p:nvPr/>
        </p:nvSpPr>
        <p:spPr>
          <a:xfrm>
            <a:off x="1501775" y="2324259"/>
            <a:ext cx="139700" cy="139700"/>
          </a:xfrm>
          <a:prstGeom prst="ellipse">
            <a:avLst/>
          </a:prstGeom>
          <a:solidFill>
            <a:srgbClr val="5C77BC"/>
          </a:solidFill>
          <a:ln/>
        </p:spPr>
      </p:sp>
      <p:sp>
        <p:nvSpPr>
          <p:cNvPr id="16" name="Text 14"/>
          <p:cNvSpPr/>
          <p:nvPr/>
        </p:nvSpPr>
        <p:spPr>
          <a:xfrm>
            <a:off x="1997075" y="2072640"/>
            <a:ext cx="8639810" cy="57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00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Quality data bounds AI model training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1501775" y="2967196"/>
            <a:ext cx="139700" cy="139700"/>
          </a:xfrm>
          <a:prstGeom prst="ellipse">
            <a:avLst/>
          </a:prstGeom>
          <a:solidFill>
            <a:srgbClr val="5C77BC"/>
          </a:solidFill>
          <a:ln/>
        </p:spPr>
      </p:sp>
      <p:sp>
        <p:nvSpPr>
          <p:cNvPr id="18" name="Text 16"/>
          <p:cNvSpPr/>
          <p:nvPr/>
        </p:nvSpPr>
        <p:spPr>
          <a:xfrm>
            <a:off x="1997075" y="2715578"/>
            <a:ext cx="8639810" cy="57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00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 clusters accelerate model training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1501775" y="3610134"/>
            <a:ext cx="139700" cy="139700"/>
          </a:xfrm>
          <a:prstGeom prst="ellipse">
            <a:avLst/>
          </a:prstGeom>
          <a:solidFill>
            <a:srgbClr val="5C77BC"/>
          </a:solidFill>
          <a:ln/>
        </p:spPr>
      </p:sp>
      <p:sp>
        <p:nvSpPr>
          <p:cNvPr id="20" name="Text 18"/>
          <p:cNvSpPr/>
          <p:nvPr/>
        </p:nvSpPr>
        <p:spPr>
          <a:xfrm>
            <a:off x="1997075" y="3358515"/>
            <a:ext cx="8639810" cy="57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00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Curated domain data reduces model bias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1501775" y="4253071"/>
            <a:ext cx="139700" cy="139700"/>
          </a:xfrm>
          <a:prstGeom prst="ellipse">
            <a:avLst/>
          </a:prstGeom>
          <a:solidFill>
            <a:srgbClr val="5C77BC"/>
          </a:solidFill>
          <a:ln/>
        </p:spPr>
      </p:sp>
      <p:sp>
        <p:nvSpPr>
          <p:cNvPr id="22" name="Text 20"/>
          <p:cNvSpPr/>
          <p:nvPr/>
        </p:nvSpPr>
        <p:spPr>
          <a:xfrm>
            <a:off x="1997075" y="4001453"/>
            <a:ext cx="8639810" cy="57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00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Hyperparameter tuning stabilizes transformer training</a:t>
            </a:r>
            <a:endParaRPr lang="en-US" sz="2500" dirty="0"/>
          </a:p>
        </p:txBody>
      </p:sp>
      <p:sp>
        <p:nvSpPr>
          <p:cNvPr id="23" name="Shape 21"/>
          <p:cNvSpPr/>
          <p:nvPr/>
        </p:nvSpPr>
        <p:spPr>
          <a:xfrm>
            <a:off x="1501775" y="4896009"/>
            <a:ext cx="139700" cy="139700"/>
          </a:xfrm>
          <a:prstGeom prst="ellipse">
            <a:avLst/>
          </a:prstGeom>
          <a:solidFill>
            <a:srgbClr val="5C77BC"/>
          </a:solidFill>
          <a:ln/>
        </p:spPr>
      </p:sp>
      <p:sp>
        <p:nvSpPr>
          <p:cNvPr id="24" name="Text 22"/>
          <p:cNvSpPr/>
          <p:nvPr/>
        </p:nvSpPr>
        <p:spPr>
          <a:xfrm>
            <a:off x="1997075" y="4644390"/>
            <a:ext cx="8639810" cy="57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00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Hardware scale drives training cost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1501775" y="5538946"/>
            <a:ext cx="139700" cy="139700"/>
          </a:xfrm>
          <a:prstGeom prst="ellipse">
            <a:avLst/>
          </a:prstGeom>
          <a:solidFill>
            <a:srgbClr val="5C77BC"/>
          </a:solidFill>
          <a:ln/>
        </p:spPr>
      </p:sp>
      <p:sp>
        <p:nvSpPr>
          <p:cNvPr id="26" name="Text 24"/>
          <p:cNvSpPr/>
          <p:nvPr/>
        </p:nvSpPr>
        <p:spPr>
          <a:xfrm>
            <a:off x="1997075" y="5287328"/>
            <a:ext cx="8639810" cy="57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00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quality remains primary training requirement</a:t>
            </a:r>
            <a:endParaRPr lang="en-US" sz="2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xmlns:p14="http://schemas.microsoft.com/office/powerpoint/2010/main" spd="slow" p14:dur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 accel="20000" decel="4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 accel="20000" decel="4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 accel="20000" decel="4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 accel="20000" decel="4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8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 accel="20000" decel="4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fill="hold" accel="20000" decel="4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 accel="20000" decel="4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 name="Slide 3">
    <p:bg>
      <p:bgPr>
        <a:solidFill>
          <a:srgbClr val="DFE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0"/>
          <p:cNvSpPr/>
          <p:nvPr/>
        </p:nvSpPr>
        <p:spPr>
          <a:xfrm rot="1380000">
            <a:off x="7138035" y="459740"/>
            <a:ext cx="1974850" cy="1974850"/>
          </a:xfrm>
          <a:prstGeom prst="hexagon">
            <a:avLst/>
          </a:prstGeom>
          <a:solidFill>
            <a:srgbClr val="EFC45E">
              <a:alpha val="35000"/>
            </a:srgbClr>
          </a:solidFill>
          <a:ln/>
        </p:spPr>
      </p:sp>
      <p:sp>
        <p:nvSpPr>
          <p:cNvPr id="3" name="deco1"/>
          <p:cNvSpPr/>
          <p:nvPr/>
        </p:nvSpPr>
        <p:spPr>
          <a:xfrm>
            <a:off x="1320800" y="3846195"/>
            <a:ext cx="1079500" cy="1079500"/>
          </a:xfrm>
          <a:prstGeom prst="ellipse">
            <a:avLst/>
          </a:prstGeom>
          <a:solidFill>
            <a:srgbClr val="8FA0D2">
              <a:alpha val="60000"/>
            </a:srgbClr>
          </a:solidFill>
          <a:ln/>
        </p:spPr>
      </p:sp>
      <p:sp>
        <p:nvSpPr>
          <p:cNvPr id="4" name="deco2"/>
          <p:cNvSpPr/>
          <p:nvPr/>
        </p:nvSpPr>
        <p:spPr>
          <a:xfrm rot="-780000">
            <a:off x="605155" y="5533390"/>
            <a:ext cx="1638300" cy="1638300"/>
          </a:xfrm>
          <a:prstGeom prst="ellipse">
            <a:avLst/>
          </a:prstGeom>
          <a:solidFill>
            <a:srgbClr val="EFC45E">
              <a:alpha val="37000"/>
            </a:srgbClr>
          </a:solidFill>
          <a:ln/>
        </p:spPr>
      </p:sp>
      <p:sp>
        <p:nvSpPr>
          <p:cNvPr id="5" name="deco3"/>
          <p:cNvSpPr/>
          <p:nvPr/>
        </p:nvSpPr>
        <p:spPr>
          <a:xfrm>
            <a:off x="12576810" y="660400"/>
            <a:ext cx="1073150" cy="1073150"/>
          </a:xfrm>
          <a:prstGeom prst="hexagon">
            <a:avLst/>
          </a:prstGeom>
          <a:solidFill>
            <a:srgbClr val="5C77BC">
              <a:alpha val="22000"/>
            </a:srgbClr>
          </a:solidFill>
          <a:ln/>
        </p:spPr>
      </p:sp>
      <p:sp>
        <p:nvSpPr>
          <p:cNvPr id="6" name="deco4"/>
          <p:cNvSpPr/>
          <p:nvPr/>
        </p:nvSpPr>
        <p:spPr>
          <a:xfrm>
            <a:off x="14835505" y="5442585"/>
            <a:ext cx="1441450" cy="1441450"/>
          </a:xfrm>
          <a:prstGeom prst="triangle">
            <a:avLst/>
          </a:prstGeom>
          <a:solidFill>
            <a:srgbClr val="EFC45E">
              <a:alpha val="19000"/>
            </a:srgbClr>
          </a:solidFill>
          <a:ln/>
        </p:spPr>
      </p:sp>
      <p:sp>
        <p:nvSpPr>
          <p:cNvPr id="7" name="deco5"/>
          <p:cNvSpPr/>
          <p:nvPr/>
        </p:nvSpPr>
        <p:spPr>
          <a:xfrm>
            <a:off x="3423285" y="8572500"/>
            <a:ext cx="952500" cy="952500"/>
          </a:xfrm>
          <a:prstGeom prst="ellipse">
            <a:avLst/>
          </a:prstGeom>
          <a:solidFill>
            <a:srgbClr val="5C77BC">
              <a:alpha val="18000"/>
            </a:srgbClr>
          </a:solidFill>
          <a:ln/>
        </p:spPr>
      </p:sp>
      <p:sp>
        <p:nvSpPr>
          <p:cNvPr id="8" name="deco6"/>
          <p:cNvSpPr/>
          <p:nvPr/>
        </p:nvSpPr>
        <p:spPr>
          <a:xfrm>
            <a:off x="11095990" y="7842885"/>
            <a:ext cx="1073150" cy="1073150"/>
          </a:xfrm>
          <a:prstGeom prst="star5">
            <a:avLst/>
          </a:prstGeom>
          <a:solidFill>
            <a:srgbClr val="EFC45E">
              <a:alpha val="14000"/>
            </a:srgbClr>
          </a:solidFill>
          <a:ln/>
        </p:spPr>
      </p:sp>
      <p:sp>
        <p:nvSpPr>
          <p:cNvPr id="9" name="deco7"/>
          <p:cNvSpPr/>
          <p:nvPr/>
        </p:nvSpPr>
        <p:spPr>
          <a:xfrm>
            <a:off x="-1546860" y="845185"/>
            <a:ext cx="1054100" cy="1054100"/>
          </a:xfrm>
          <a:prstGeom prst="pentagon">
            <a:avLst/>
          </a:prstGeom>
          <a:solidFill>
            <a:srgbClr val="8FA0D2">
              <a:alpha val="13000"/>
            </a:srgbClr>
          </a:solidFill>
          <a:ln/>
        </p:spPr>
      </p:sp>
      <p:sp>
        <p:nvSpPr>
          <p:cNvPr id="10" name="deco8"/>
          <p:cNvSpPr/>
          <p:nvPr/>
        </p:nvSpPr>
        <p:spPr>
          <a:xfrm>
            <a:off x="14392275" y="2666365"/>
            <a:ext cx="1568450" cy="1568450"/>
          </a:xfrm>
          <a:prstGeom prst="ellipse">
            <a:avLst/>
          </a:prstGeom>
          <a:solidFill>
            <a:srgbClr val="EFC45E">
              <a:alpha val="17000"/>
            </a:srgbClr>
          </a:solidFill>
          <a:ln/>
        </p:spPr>
      </p:sp>
      <p:sp>
        <p:nvSpPr>
          <p:cNvPr id="11" name="cardFrame"/>
          <p:cNvSpPr/>
          <p:nvPr/>
        </p:nvSpPr>
        <p:spPr>
          <a:xfrm>
            <a:off x="981075" y="866140"/>
            <a:ext cx="10138410" cy="5457825"/>
          </a:xfrm>
          <a:prstGeom prst="rect">
            <a:avLst/>
          </a:prstGeom>
          <a:ln w="38100">
            <a:solidFill>
              <a:srgbClr val="5C77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675" y="1259840"/>
            <a:ext cx="91732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i="1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Quality data bounds AI model training</a:t>
            </a:r>
            <a:endParaRPr lang="en-US" sz="3100" dirty="0"/>
          </a:p>
        </p:txBody>
      </p:sp>
      <p:sp>
        <p:nvSpPr>
          <p:cNvPr id="13" name="Shape 11"/>
          <p:cNvSpPr/>
          <p:nvPr/>
        </p:nvSpPr>
        <p:spPr>
          <a:xfrm>
            <a:off x="1463675" y="1888490"/>
            <a:ext cx="9173210" cy="12700"/>
          </a:xfrm>
          <a:prstGeom prst="rect">
            <a:avLst/>
          </a:prstGeom>
          <a:solidFill>
            <a:srgbClr val="5C77BC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63675" y="2072640"/>
            <a:ext cx="9173210" cy="3324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675" y="6261100"/>
            <a:ext cx="917321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Touvron et al. (2023)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xmlns:p14="http://schemas.microsoft.com/office/powerpoint/2010/main" spd="slow" p14:dur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 accel="20000" decel="4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 accel="20000" decel="4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 accel="20000" decel="4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 accel="20000" decel="4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 accel="20000" decel="4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 name="Slide 4">
    <p:bg>
      <p:bgPr>
        <a:solidFill>
          <a:srgbClr val="DFE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0"/>
          <p:cNvSpPr/>
          <p:nvPr/>
        </p:nvSpPr>
        <p:spPr>
          <a:xfrm rot="1860000">
            <a:off x="7050405" y="262890"/>
            <a:ext cx="1974850" cy="1974850"/>
          </a:xfrm>
          <a:prstGeom prst="hexagon">
            <a:avLst/>
          </a:prstGeom>
          <a:solidFill>
            <a:srgbClr val="EFC45E">
              <a:alpha val="35000"/>
            </a:srgbClr>
          </a:solidFill>
          <a:ln/>
        </p:spPr>
      </p:sp>
      <p:sp>
        <p:nvSpPr>
          <p:cNvPr id="3" name="deco1"/>
          <p:cNvSpPr/>
          <p:nvPr/>
        </p:nvSpPr>
        <p:spPr>
          <a:xfrm>
            <a:off x="1409065" y="3655695"/>
            <a:ext cx="1079500" cy="1079500"/>
          </a:xfrm>
          <a:prstGeom prst="ellipse">
            <a:avLst/>
          </a:prstGeom>
          <a:solidFill>
            <a:srgbClr val="8FA0D2">
              <a:alpha val="60000"/>
            </a:srgbClr>
          </a:solidFill>
          <a:ln/>
        </p:spPr>
      </p:sp>
      <p:sp>
        <p:nvSpPr>
          <p:cNvPr id="4" name="deco2"/>
          <p:cNvSpPr/>
          <p:nvPr/>
        </p:nvSpPr>
        <p:spPr>
          <a:xfrm rot="-1020000">
            <a:off x="704215" y="5431155"/>
            <a:ext cx="1638300" cy="1638300"/>
          </a:xfrm>
          <a:prstGeom prst="ellipse">
            <a:avLst/>
          </a:prstGeom>
          <a:solidFill>
            <a:srgbClr val="EFC45E">
              <a:alpha val="37000"/>
            </a:srgbClr>
          </a:solidFill>
          <a:ln/>
        </p:spPr>
      </p:sp>
      <p:sp>
        <p:nvSpPr>
          <p:cNvPr id="5" name="deco3"/>
          <p:cNvSpPr/>
          <p:nvPr/>
        </p:nvSpPr>
        <p:spPr>
          <a:xfrm rot="720000">
            <a:off x="10343515" y="1002665"/>
            <a:ext cx="1073150" cy="1073150"/>
          </a:xfrm>
          <a:prstGeom prst="hexagon">
            <a:avLst/>
          </a:prstGeom>
          <a:solidFill>
            <a:srgbClr val="5C77BC">
              <a:alpha val="22000"/>
            </a:srgbClr>
          </a:solidFill>
          <a:ln/>
        </p:spPr>
      </p:sp>
      <p:sp>
        <p:nvSpPr>
          <p:cNvPr id="6" name="deco4"/>
          <p:cNvSpPr/>
          <p:nvPr/>
        </p:nvSpPr>
        <p:spPr>
          <a:xfrm>
            <a:off x="14905990" y="5408930"/>
            <a:ext cx="1441450" cy="1441450"/>
          </a:xfrm>
          <a:prstGeom prst="triangle">
            <a:avLst/>
          </a:prstGeom>
          <a:solidFill>
            <a:srgbClr val="EFC45E">
              <a:alpha val="37000"/>
            </a:srgbClr>
          </a:solidFill>
          <a:ln/>
        </p:spPr>
      </p:sp>
      <p:sp>
        <p:nvSpPr>
          <p:cNvPr id="7" name="deco5"/>
          <p:cNvSpPr/>
          <p:nvPr/>
        </p:nvSpPr>
        <p:spPr>
          <a:xfrm>
            <a:off x="3511550" y="8530590"/>
            <a:ext cx="952500" cy="952500"/>
          </a:xfrm>
          <a:prstGeom prst="ellipse">
            <a:avLst/>
          </a:prstGeom>
          <a:solidFill>
            <a:srgbClr val="5C77BC">
              <a:alpha val="18000"/>
            </a:srgbClr>
          </a:solidFill>
          <a:ln/>
        </p:spPr>
      </p:sp>
      <p:sp>
        <p:nvSpPr>
          <p:cNvPr id="8" name="deco6"/>
          <p:cNvSpPr/>
          <p:nvPr/>
        </p:nvSpPr>
        <p:spPr>
          <a:xfrm>
            <a:off x="11148695" y="7817485"/>
            <a:ext cx="1073150" cy="1073150"/>
          </a:xfrm>
          <a:prstGeom prst="star5">
            <a:avLst/>
          </a:prstGeom>
          <a:solidFill>
            <a:srgbClr val="EFC45E">
              <a:alpha val="14000"/>
            </a:srgbClr>
          </a:solidFill>
          <a:ln/>
        </p:spPr>
      </p:sp>
      <p:sp>
        <p:nvSpPr>
          <p:cNvPr id="9" name="deco7"/>
          <p:cNvSpPr/>
          <p:nvPr/>
        </p:nvSpPr>
        <p:spPr>
          <a:xfrm>
            <a:off x="-1511935" y="828040"/>
            <a:ext cx="1054100" cy="1054100"/>
          </a:xfrm>
          <a:prstGeom prst="pentagon">
            <a:avLst/>
          </a:prstGeom>
          <a:solidFill>
            <a:srgbClr val="8FA0D2">
              <a:alpha val="13000"/>
            </a:srgbClr>
          </a:solidFill>
          <a:ln/>
        </p:spPr>
      </p:sp>
      <p:sp>
        <p:nvSpPr>
          <p:cNvPr id="10" name="deco8"/>
          <p:cNvSpPr/>
          <p:nvPr/>
        </p:nvSpPr>
        <p:spPr>
          <a:xfrm>
            <a:off x="14453870" y="2637155"/>
            <a:ext cx="1568450" cy="1568450"/>
          </a:xfrm>
          <a:prstGeom prst="ellipse">
            <a:avLst/>
          </a:prstGeom>
          <a:solidFill>
            <a:srgbClr val="EFC45E">
              <a:alpha val="17000"/>
            </a:srgbClr>
          </a:solidFill>
          <a:ln/>
        </p:spPr>
      </p:sp>
      <p:sp>
        <p:nvSpPr>
          <p:cNvPr id="11" name="cardFrame"/>
          <p:cNvSpPr/>
          <p:nvPr/>
        </p:nvSpPr>
        <p:spPr>
          <a:xfrm>
            <a:off x="981075" y="866140"/>
            <a:ext cx="10138410" cy="5457825"/>
          </a:xfrm>
          <a:prstGeom prst="rect">
            <a:avLst/>
          </a:prstGeom>
          <a:ln w="38100">
            <a:solidFill>
              <a:srgbClr val="5C77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675" y="1259840"/>
            <a:ext cx="91732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i="1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 clusters accelerate model training</a:t>
            </a:r>
            <a:endParaRPr lang="en-US" sz="3100" dirty="0"/>
          </a:p>
        </p:txBody>
      </p:sp>
      <p:sp>
        <p:nvSpPr>
          <p:cNvPr id="13" name="Shape 11"/>
          <p:cNvSpPr/>
          <p:nvPr/>
        </p:nvSpPr>
        <p:spPr>
          <a:xfrm>
            <a:off x="1463675" y="1888490"/>
            <a:ext cx="9173210" cy="12700"/>
          </a:xfrm>
          <a:prstGeom prst="rect">
            <a:avLst/>
          </a:prstGeom>
          <a:solidFill>
            <a:srgbClr val="5C77BC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63675" y="2072640"/>
            <a:ext cx="917321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NVIDIA H100 clusters provide exaflop throughput for multi-billion token runs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675" y="2606040"/>
            <a:ext cx="9173210" cy="3324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xmlns:p14="http://schemas.microsoft.com/office/powerpoint/2010/main" spd="slow" p14:dur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 accel="20000" decel="4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 accel="20000" decel="4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 accel="20000" decel="4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 accel="20000" decel="4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 accel="20000" decel="4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 name="Slide 5">
    <p:bg>
      <p:bgPr>
        <a:solidFill>
          <a:srgbClr val="DFE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0"/>
          <p:cNvSpPr/>
          <p:nvPr/>
        </p:nvSpPr>
        <p:spPr>
          <a:xfrm rot="2280000">
            <a:off x="6689090" y="372745"/>
            <a:ext cx="1974850" cy="1974850"/>
          </a:xfrm>
          <a:prstGeom prst="hexagon">
            <a:avLst/>
          </a:prstGeom>
          <a:solidFill>
            <a:srgbClr val="EFC45E">
              <a:alpha val="35000"/>
            </a:srgbClr>
          </a:solidFill>
          <a:ln/>
        </p:spPr>
      </p:sp>
      <p:sp>
        <p:nvSpPr>
          <p:cNvPr id="3" name="deco1"/>
          <p:cNvSpPr/>
          <p:nvPr/>
        </p:nvSpPr>
        <p:spPr>
          <a:xfrm>
            <a:off x="1233805" y="3481705"/>
            <a:ext cx="1079500" cy="1079500"/>
          </a:xfrm>
          <a:prstGeom prst="ellipse">
            <a:avLst/>
          </a:prstGeom>
          <a:solidFill>
            <a:srgbClr val="8FA0D2">
              <a:alpha val="60000"/>
            </a:srgbClr>
          </a:solidFill>
          <a:ln/>
        </p:spPr>
      </p:sp>
      <p:sp>
        <p:nvSpPr>
          <p:cNvPr id="4" name="deco2"/>
          <p:cNvSpPr/>
          <p:nvPr/>
        </p:nvSpPr>
        <p:spPr>
          <a:xfrm rot="-1260000">
            <a:off x="672465" y="5323205"/>
            <a:ext cx="1638300" cy="1638300"/>
          </a:xfrm>
          <a:prstGeom prst="ellipse">
            <a:avLst/>
          </a:prstGeom>
          <a:solidFill>
            <a:srgbClr val="EFC45E">
              <a:alpha val="37000"/>
            </a:srgbClr>
          </a:solidFill>
          <a:ln/>
        </p:spPr>
      </p:sp>
      <p:sp>
        <p:nvSpPr>
          <p:cNvPr id="5" name="deco3"/>
          <p:cNvSpPr/>
          <p:nvPr/>
        </p:nvSpPr>
        <p:spPr>
          <a:xfrm rot="1380000">
            <a:off x="10645140" y="921385"/>
            <a:ext cx="1073150" cy="1073150"/>
          </a:xfrm>
          <a:prstGeom prst="ellipse">
            <a:avLst/>
          </a:prstGeom>
          <a:solidFill>
            <a:srgbClr val="5C77BC">
              <a:alpha val="22000"/>
            </a:srgbClr>
          </a:solidFill>
          <a:ln/>
        </p:spPr>
      </p:sp>
      <p:sp>
        <p:nvSpPr>
          <p:cNvPr id="6" name="deco4"/>
          <p:cNvSpPr/>
          <p:nvPr/>
        </p:nvSpPr>
        <p:spPr>
          <a:xfrm rot="-840000">
            <a:off x="10064115" y="5097145"/>
            <a:ext cx="1441450" cy="1441450"/>
          </a:xfrm>
          <a:prstGeom prst="triangle">
            <a:avLst/>
          </a:prstGeom>
          <a:solidFill>
            <a:srgbClr val="EFC45E">
              <a:alpha val="37000"/>
            </a:srgbClr>
          </a:solidFill>
          <a:ln/>
        </p:spPr>
      </p:sp>
      <p:sp>
        <p:nvSpPr>
          <p:cNvPr id="7" name="deco5"/>
          <p:cNvSpPr/>
          <p:nvPr/>
        </p:nvSpPr>
        <p:spPr>
          <a:xfrm>
            <a:off x="3557905" y="8475980"/>
            <a:ext cx="952500" cy="952500"/>
          </a:xfrm>
          <a:prstGeom prst="ellipse">
            <a:avLst/>
          </a:prstGeom>
          <a:solidFill>
            <a:srgbClr val="5C77BC">
              <a:alpha val="36000"/>
            </a:srgbClr>
          </a:solidFill>
          <a:ln/>
        </p:spPr>
      </p:sp>
      <p:sp>
        <p:nvSpPr>
          <p:cNvPr id="8" name="deco6"/>
          <p:cNvSpPr/>
          <p:nvPr/>
        </p:nvSpPr>
        <p:spPr>
          <a:xfrm>
            <a:off x="11176635" y="7785100"/>
            <a:ext cx="1073150" cy="1073150"/>
          </a:xfrm>
          <a:prstGeom prst="star5">
            <a:avLst/>
          </a:prstGeom>
          <a:solidFill>
            <a:srgbClr val="EFC45E">
              <a:alpha val="14000"/>
            </a:srgbClr>
          </a:solidFill>
          <a:ln/>
        </p:spPr>
      </p:sp>
      <p:sp>
        <p:nvSpPr>
          <p:cNvPr id="9" name="deco7"/>
          <p:cNvSpPr/>
          <p:nvPr/>
        </p:nvSpPr>
        <p:spPr>
          <a:xfrm>
            <a:off x="-1492885" y="806450"/>
            <a:ext cx="1054100" cy="1054100"/>
          </a:xfrm>
          <a:prstGeom prst="pentagon">
            <a:avLst/>
          </a:prstGeom>
          <a:solidFill>
            <a:srgbClr val="8FA0D2">
              <a:alpha val="13000"/>
            </a:srgbClr>
          </a:solidFill>
          <a:ln/>
        </p:spPr>
      </p:sp>
      <p:sp>
        <p:nvSpPr>
          <p:cNvPr id="10" name="deco8"/>
          <p:cNvSpPr/>
          <p:nvPr/>
        </p:nvSpPr>
        <p:spPr>
          <a:xfrm>
            <a:off x="14486255" y="2599055"/>
            <a:ext cx="1568450" cy="1568450"/>
          </a:xfrm>
          <a:prstGeom prst="ellipse">
            <a:avLst/>
          </a:prstGeom>
          <a:solidFill>
            <a:srgbClr val="EFC45E">
              <a:alpha val="17000"/>
            </a:srgbClr>
          </a:solidFill>
          <a:ln/>
        </p:spPr>
      </p:sp>
      <p:sp>
        <p:nvSpPr>
          <p:cNvPr id="11" name="cardFrame"/>
          <p:cNvSpPr/>
          <p:nvPr/>
        </p:nvSpPr>
        <p:spPr>
          <a:xfrm>
            <a:off x="981075" y="866140"/>
            <a:ext cx="10138410" cy="5457825"/>
          </a:xfrm>
          <a:prstGeom prst="rect">
            <a:avLst/>
          </a:prstGeom>
          <a:ln w="38100">
            <a:solidFill>
              <a:srgbClr val="5C77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675" y="1259840"/>
            <a:ext cx="91732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i="1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Curated domain data reduces model bias</a:t>
            </a:r>
            <a:endParaRPr lang="en-US" sz="3100" dirty="0"/>
          </a:p>
        </p:txBody>
      </p:sp>
      <p:sp>
        <p:nvSpPr>
          <p:cNvPr id="13" name="Shape 11"/>
          <p:cNvSpPr/>
          <p:nvPr/>
        </p:nvSpPr>
        <p:spPr>
          <a:xfrm>
            <a:off x="1463675" y="1888490"/>
            <a:ext cx="9173210" cy="12700"/>
          </a:xfrm>
          <a:prstGeom prst="rect">
            <a:avLst/>
          </a:prstGeom>
          <a:solidFill>
            <a:srgbClr val="5C77BC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63675" y="2072640"/>
            <a:ext cx="9173210" cy="3324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675" y="6261100"/>
            <a:ext cx="917321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Touvron et al. (2023)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xmlns:p14="http://schemas.microsoft.com/office/powerpoint/2010/main" spd="slow" p14:dur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 accel="20000" decel="4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 accel="20000" decel="4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 accel="20000" decel="4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 accel="20000" decel="4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 accel="20000" decel="4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 name="Slide 6">
    <p:bg>
      <p:bgPr>
        <a:solidFill>
          <a:srgbClr val="DFE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0"/>
          <p:cNvSpPr/>
          <p:nvPr/>
        </p:nvSpPr>
        <p:spPr>
          <a:xfrm rot="2760000">
            <a:off x="6004560" y="7626350"/>
            <a:ext cx="1974850" cy="1974850"/>
          </a:xfrm>
          <a:prstGeom prst="hexagon">
            <a:avLst/>
          </a:prstGeom>
          <a:solidFill>
            <a:srgbClr val="EFC45E">
              <a:alpha val="17000"/>
            </a:srgbClr>
          </a:solidFill>
          <a:ln/>
        </p:spPr>
      </p:sp>
      <p:sp>
        <p:nvSpPr>
          <p:cNvPr id="3" name="deco1"/>
          <p:cNvSpPr/>
          <p:nvPr/>
        </p:nvSpPr>
        <p:spPr>
          <a:xfrm>
            <a:off x="875030" y="3613150"/>
            <a:ext cx="1079500" cy="1079500"/>
          </a:xfrm>
          <a:prstGeom prst="ellipse">
            <a:avLst/>
          </a:prstGeom>
          <a:solidFill>
            <a:srgbClr val="8FA0D2">
              <a:alpha val="60000"/>
            </a:srgbClr>
          </a:solidFill>
          <a:ln/>
        </p:spPr>
      </p:sp>
      <p:sp>
        <p:nvSpPr>
          <p:cNvPr id="4" name="deco2"/>
          <p:cNvSpPr/>
          <p:nvPr/>
        </p:nvSpPr>
        <p:spPr>
          <a:xfrm rot="-1500000">
            <a:off x="521335" y="5232400"/>
            <a:ext cx="1638300" cy="1638300"/>
          </a:xfrm>
          <a:prstGeom prst="ellipse">
            <a:avLst/>
          </a:prstGeom>
          <a:solidFill>
            <a:srgbClr val="EFC45E">
              <a:alpha val="37000"/>
            </a:srgbClr>
          </a:solidFill>
          <a:ln/>
        </p:spPr>
      </p:sp>
      <p:sp>
        <p:nvSpPr>
          <p:cNvPr id="5" name="deco3"/>
          <p:cNvSpPr/>
          <p:nvPr/>
        </p:nvSpPr>
        <p:spPr>
          <a:xfrm rot="2100000">
            <a:off x="10645140" y="771525"/>
            <a:ext cx="1073150" cy="1073150"/>
          </a:xfrm>
          <a:prstGeom prst="ellipse">
            <a:avLst/>
          </a:prstGeom>
          <a:solidFill>
            <a:srgbClr val="5C77BC">
              <a:alpha val="22000"/>
            </a:srgbClr>
          </a:solidFill>
          <a:ln/>
        </p:spPr>
      </p:sp>
      <p:sp>
        <p:nvSpPr>
          <p:cNvPr id="6" name="deco4"/>
          <p:cNvSpPr/>
          <p:nvPr/>
        </p:nvSpPr>
        <p:spPr>
          <a:xfrm rot="-1740000">
            <a:off x="10522585" y="4942840"/>
            <a:ext cx="1441450" cy="1441450"/>
          </a:xfrm>
          <a:prstGeom prst="chevron">
            <a:avLst/>
          </a:prstGeom>
          <a:solidFill>
            <a:srgbClr val="EFC45E">
              <a:alpha val="37000"/>
            </a:srgbClr>
          </a:solidFill>
          <a:ln/>
        </p:spPr>
      </p:sp>
      <p:sp>
        <p:nvSpPr>
          <p:cNvPr id="7" name="deco5"/>
          <p:cNvSpPr/>
          <p:nvPr/>
        </p:nvSpPr>
        <p:spPr>
          <a:xfrm>
            <a:off x="4288790" y="5361940"/>
            <a:ext cx="952500" cy="952500"/>
          </a:xfrm>
          <a:prstGeom prst="ellipse">
            <a:avLst/>
          </a:prstGeom>
          <a:solidFill>
            <a:srgbClr val="5C77BC">
              <a:alpha val="36000"/>
            </a:srgbClr>
          </a:solidFill>
          <a:ln/>
        </p:spPr>
      </p:sp>
      <p:sp>
        <p:nvSpPr>
          <p:cNvPr id="8" name="deco6"/>
          <p:cNvSpPr/>
          <p:nvPr/>
        </p:nvSpPr>
        <p:spPr>
          <a:xfrm>
            <a:off x="11176000" y="7747635"/>
            <a:ext cx="1073150" cy="1073150"/>
          </a:xfrm>
          <a:prstGeom prst="star5">
            <a:avLst/>
          </a:prstGeom>
          <a:solidFill>
            <a:srgbClr val="EFC45E">
              <a:alpha val="28000"/>
            </a:srgbClr>
          </a:solidFill>
          <a:ln/>
        </p:spPr>
      </p:sp>
      <p:sp>
        <p:nvSpPr>
          <p:cNvPr id="9" name="deco7"/>
          <p:cNvSpPr/>
          <p:nvPr/>
        </p:nvSpPr>
        <p:spPr>
          <a:xfrm>
            <a:off x="-1493520" y="781685"/>
            <a:ext cx="1054100" cy="1054100"/>
          </a:xfrm>
          <a:prstGeom prst="pentagon">
            <a:avLst/>
          </a:prstGeom>
          <a:solidFill>
            <a:srgbClr val="8FA0D2">
              <a:alpha val="13000"/>
            </a:srgbClr>
          </a:solidFill>
          <a:ln/>
        </p:spPr>
      </p:sp>
      <p:sp>
        <p:nvSpPr>
          <p:cNvPr id="10" name="deco8"/>
          <p:cNvSpPr/>
          <p:nvPr/>
        </p:nvSpPr>
        <p:spPr>
          <a:xfrm>
            <a:off x="14485620" y="2555240"/>
            <a:ext cx="1568450" cy="1568450"/>
          </a:xfrm>
          <a:prstGeom prst="ellipse">
            <a:avLst/>
          </a:prstGeom>
          <a:solidFill>
            <a:srgbClr val="EFC45E">
              <a:alpha val="17000"/>
            </a:srgbClr>
          </a:solidFill>
          <a:ln/>
        </p:spPr>
      </p:sp>
      <p:sp>
        <p:nvSpPr>
          <p:cNvPr id="11" name="cardFrame"/>
          <p:cNvSpPr/>
          <p:nvPr/>
        </p:nvSpPr>
        <p:spPr>
          <a:xfrm>
            <a:off x="981075" y="866140"/>
            <a:ext cx="10138410" cy="5457825"/>
          </a:xfrm>
          <a:prstGeom prst="rect">
            <a:avLst/>
          </a:prstGeom>
          <a:ln w="38100">
            <a:solidFill>
              <a:srgbClr val="5C77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675" y="1259840"/>
            <a:ext cx="91732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i="1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Hyperparameter tuning stabilizes transformer training</a:t>
            </a:r>
            <a:endParaRPr lang="en-US" sz="3100" dirty="0"/>
          </a:p>
        </p:txBody>
      </p:sp>
      <p:sp>
        <p:nvSpPr>
          <p:cNvPr id="13" name="Shape 11"/>
          <p:cNvSpPr/>
          <p:nvPr/>
        </p:nvSpPr>
        <p:spPr>
          <a:xfrm>
            <a:off x="1463675" y="1888490"/>
            <a:ext cx="9173210" cy="12700"/>
          </a:xfrm>
          <a:prstGeom prst="rect">
            <a:avLst/>
          </a:prstGeom>
          <a:solidFill>
            <a:srgbClr val="5C77BC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63675" y="2072640"/>
            <a:ext cx="917321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AdamW weight decay and learning rate warmup prevent gradient explosion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63675" y="2606040"/>
            <a:ext cx="9173210" cy="3324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xmlns:p14="http://schemas.microsoft.com/office/powerpoint/2010/main" spd="slow" p14:dur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 accel="20000" decel="4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 accel="20000" decel="4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 accel="20000" decel="4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 accel="20000" decel="4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 accel="20000" decel="4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 name="Slide 7">
    <p:bg>
      <p:bgPr>
        <a:solidFill>
          <a:srgbClr val="DFE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0"/>
          <p:cNvSpPr/>
          <p:nvPr/>
        </p:nvSpPr>
        <p:spPr>
          <a:xfrm rot="2760000">
            <a:off x="5962015" y="7567295"/>
            <a:ext cx="1974850" cy="1974850"/>
          </a:xfrm>
          <a:prstGeom prst="hexagon">
            <a:avLst/>
          </a:prstGeom>
          <a:solidFill>
            <a:srgbClr val="EFC45E">
              <a:alpha val="17000"/>
            </a:srgbClr>
          </a:solidFill>
          <a:ln/>
        </p:spPr>
      </p:sp>
      <p:sp>
        <p:nvSpPr>
          <p:cNvPr id="3" name="deco1"/>
          <p:cNvSpPr/>
          <p:nvPr/>
        </p:nvSpPr>
        <p:spPr>
          <a:xfrm>
            <a:off x="14482445" y="4507230"/>
            <a:ext cx="1079500" cy="1079500"/>
          </a:xfrm>
          <a:prstGeom prst="ellipse">
            <a:avLst/>
          </a:prstGeom>
          <a:solidFill>
            <a:srgbClr val="8FA0D2">
              <a:alpha val="30000"/>
            </a:srgbClr>
          </a:solidFill>
          <a:ln/>
        </p:spPr>
      </p:sp>
      <p:sp>
        <p:nvSpPr>
          <p:cNvPr id="4" name="deco2"/>
          <p:cNvSpPr/>
          <p:nvPr/>
        </p:nvSpPr>
        <p:spPr>
          <a:xfrm rot="-1800000">
            <a:off x="292100" y="5339715"/>
            <a:ext cx="1638300" cy="1638300"/>
          </a:xfrm>
          <a:prstGeom prst="ellipse">
            <a:avLst/>
          </a:prstGeom>
          <a:solidFill>
            <a:srgbClr val="EFC45E">
              <a:alpha val="37000"/>
            </a:srgbClr>
          </a:solidFill>
          <a:ln/>
        </p:spPr>
      </p:sp>
      <p:sp>
        <p:nvSpPr>
          <p:cNvPr id="5" name="deco3"/>
          <p:cNvSpPr/>
          <p:nvPr/>
        </p:nvSpPr>
        <p:spPr>
          <a:xfrm rot="2760000">
            <a:off x="10343515" y="817245"/>
            <a:ext cx="1073150" cy="1073150"/>
          </a:xfrm>
          <a:prstGeom prst="ellipse">
            <a:avLst/>
          </a:prstGeom>
          <a:solidFill>
            <a:srgbClr val="5C77BC">
              <a:alpha val="22000"/>
            </a:srgbClr>
          </a:solidFill>
          <a:ln/>
        </p:spPr>
      </p:sp>
      <p:sp>
        <p:nvSpPr>
          <p:cNvPr id="6" name="deco4"/>
          <p:cNvSpPr/>
          <p:nvPr/>
        </p:nvSpPr>
        <p:spPr>
          <a:xfrm rot="-2580000">
            <a:off x="10484485" y="4681220"/>
            <a:ext cx="1441450" cy="1441450"/>
          </a:xfrm>
          <a:prstGeom prst="chevron">
            <a:avLst/>
          </a:prstGeom>
          <a:solidFill>
            <a:srgbClr val="EFC45E">
              <a:alpha val="37000"/>
            </a:srgbClr>
          </a:solidFill>
          <a:ln/>
        </p:spPr>
      </p:sp>
      <p:sp>
        <p:nvSpPr>
          <p:cNvPr id="7" name="deco5"/>
          <p:cNvSpPr/>
          <p:nvPr/>
        </p:nvSpPr>
        <p:spPr>
          <a:xfrm>
            <a:off x="4672330" y="5225415"/>
            <a:ext cx="952500" cy="952500"/>
          </a:xfrm>
          <a:prstGeom prst="star5">
            <a:avLst/>
          </a:prstGeom>
          <a:solidFill>
            <a:srgbClr val="5C77BC">
              <a:alpha val="36000"/>
            </a:srgbClr>
          </a:solidFill>
          <a:ln/>
        </p:spPr>
      </p:sp>
      <p:sp>
        <p:nvSpPr>
          <p:cNvPr id="8" name="deco6"/>
          <p:cNvSpPr/>
          <p:nvPr/>
        </p:nvSpPr>
        <p:spPr>
          <a:xfrm rot="1080000">
            <a:off x="8982075" y="5652770"/>
            <a:ext cx="1073150" cy="1073150"/>
          </a:xfrm>
          <a:prstGeom prst="star5">
            <a:avLst/>
          </a:prstGeom>
          <a:solidFill>
            <a:srgbClr val="EFC45E">
              <a:alpha val="28000"/>
            </a:srgbClr>
          </a:solidFill>
          <a:ln/>
        </p:spPr>
      </p:sp>
      <p:sp>
        <p:nvSpPr>
          <p:cNvPr id="9" name="deco7"/>
          <p:cNvSpPr/>
          <p:nvPr/>
        </p:nvSpPr>
        <p:spPr>
          <a:xfrm>
            <a:off x="-1512570" y="755015"/>
            <a:ext cx="1054100" cy="1054100"/>
          </a:xfrm>
          <a:prstGeom prst="pentagon">
            <a:avLst/>
          </a:prstGeom>
          <a:solidFill>
            <a:srgbClr val="8FA0D2">
              <a:alpha val="27000"/>
            </a:srgbClr>
          </a:solidFill>
          <a:ln/>
        </p:spPr>
      </p:sp>
      <p:sp>
        <p:nvSpPr>
          <p:cNvPr id="10" name="deco8"/>
          <p:cNvSpPr/>
          <p:nvPr/>
        </p:nvSpPr>
        <p:spPr>
          <a:xfrm>
            <a:off x="14452600" y="2508885"/>
            <a:ext cx="1568450" cy="1568450"/>
          </a:xfrm>
          <a:prstGeom prst="ellipse">
            <a:avLst/>
          </a:prstGeom>
          <a:solidFill>
            <a:srgbClr val="EFC45E">
              <a:alpha val="17000"/>
            </a:srgbClr>
          </a:solidFill>
          <a:ln/>
        </p:spPr>
      </p:sp>
      <p:sp>
        <p:nvSpPr>
          <p:cNvPr id="11" name="cardFrame"/>
          <p:cNvSpPr/>
          <p:nvPr/>
        </p:nvSpPr>
        <p:spPr>
          <a:xfrm>
            <a:off x="981075" y="866140"/>
            <a:ext cx="10138410" cy="5457825"/>
          </a:xfrm>
          <a:prstGeom prst="rect">
            <a:avLst/>
          </a:prstGeom>
          <a:ln w="38100">
            <a:solidFill>
              <a:srgbClr val="5C77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675" y="1259840"/>
            <a:ext cx="91732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i="1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Hardware scale drives training cost</a:t>
            </a:r>
            <a:endParaRPr lang="en-US" sz="3100" dirty="0"/>
          </a:p>
        </p:txBody>
      </p:sp>
      <p:sp>
        <p:nvSpPr>
          <p:cNvPr id="13" name="Shape 11"/>
          <p:cNvSpPr/>
          <p:nvPr/>
        </p:nvSpPr>
        <p:spPr>
          <a:xfrm>
            <a:off x="1463675" y="1888490"/>
            <a:ext cx="9173210" cy="12700"/>
          </a:xfrm>
          <a:prstGeom prst="rect">
            <a:avLst/>
          </a:prstGeom>
          <a:solidFill>
            <a:srgbClr val="5C77BC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63675" y="2072640"/>
            <a:ext cx="917321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Training frontier AI models requires millions of GPU-hours per run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63675" y="2606040"/>
            <a:ext cx="9173210" cy="3324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xmlns:p14="http://schemas.microsoft.com/office/powerpoint/2010/main" spd="slow" p14:dur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 accel="20000" decel="4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 accel="20000" decel="4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 accel="20000" decel="4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 accel="20000" decel="4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 accel="20000" decel="4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 name="Slide 8">
    <p:bg>
      <p:bgPr>
        <a:solidFill>
          <a:srgbClr val="DFE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0"/>
          <p:cNvSpPr/>
          <p:nvPr/>
        </p:nvSpPr>
        <p:spPr>
          <a:xfrm rot="2760000">
            <a:off x="5882005" y="7508875"/>
            <a:ext cx="1974850" cy="1974850"/>
          </a:xfrm>
          <a:prstGeom prst="hexagon">
            <a:avLst/>
          </a:prstGeom>
          <a:solidFill>
            <a:srgbClr val="EFC45E">
              <a:alpha val="17000"/>
            </a:srgbClr>
          </a:solidFill>
          <a:ln/>
        </p:spPr>
      </p:sp>
      <p:sp>
        <p:nvSpPr>
          <p:cNvPr id="3" name="deco1"/>
          <p:cNvSpPr/>
          <p:nvPr/>
        </p:nvSpPr>
        <p:spPr>
          <a:xfrm>
            <a:off x="14393545" y="4442460"/>
            <a:ext cx="1079500" cy="1079500"/>
          </a:xfrm>
          <a:prstGeom prst="ellipse">
            <a:avLst/>
          </a:prstGeom>
          <a:solidFill>
            <a:srgbClr val="8FA0D2">
              <a:alpha val="30000"/>
            </a:srgbClr>
          </a:solidFill>
          <a:ln/>
        </p:spPr>
      </p:sp>
      <p:sp>
        <p:nvSpPr>
          <p:cNvPr id="4" name="deco2"/>
          <p:cNvSpPr/>
          <p:nvPr/>
        </p:nvSpPr>
        <p:spPr>
          <a:xfrm rot="-2040000">
            <a:off x="-2303780" y="6047740"/>
            <a:ext cx="1638300" cy="1638300"/>
          </a:xfrm>
          <a:prstGeom prst="ellipse">
            <a:avLst/>
          </a:prstGeom>
          <a:solidFill>
            <a:srgbClr val="EFC45E">
              <a:alpha val="18000"/>
            </a:srgbClr>
          </a:solidFill>
          <a:ln/>
        </p:spPr>
      </p:sp>
      <p:sp>
        <p:nvSpPr>
          <p:cNvPr id="5" name="deco3"/>
          <p:cNvSpPr/>
          <p:nvPr/>
        </p:nvSpPr>
        <p:spPr>
          <a:xfrm rot="3480000">
            <a:off x="3007360" y="1171575"/>
            <a:ext cx="1073150" cy="1073150"/>
          </a:xfrm>
          <a:prstGeom prst="ellipse">
            <a:avLst/>
          </a:prstGeom>
          <a:solidFill>
            <a:srgbClr val="5C77BC">
              <a:alpha val="11000"/>
            </a:srgbClr>
          </a:solidFill>
          <a:ln/>
        </p:spPr>
      </p:sp>
      <p:sp>
        <p:nvSpPr>
          <p:cNvPr id="6" name="deco4"/>
          <p:cNvSpPr/>
          <p:nvPr/>
        </p:nvSpPr>
        <p:spPr>
          <a:xfrm rot="-3480000">
            <a:off x="9954260" y="4733925"/>
            <a:ext cx="1441450" cy="1441450"/>
          </a:xfrm>
          <a:prstGeom prst="chevron">
            <a:avLst/>
          </a:prstGeom>
          <a:solidFill>
            <a:srgbClr val="EFC45E">
              <a:alpha val="37000"/>
            </a:srgbClr>
          </a:solidFill>
          <a:ln/>
        </p:spPr>
      </p:sp>
      <p:sp>
        <p:nvSpPr>
          <p:cNvPr id="7" name="deco5"/>
          <p:cNvSpPr/>
          <p:nvPr/>
        </p:nvSpPr>
        <p:spPr>
          <a:xfrm>
            <a:off x="4761865" y="4991100"/>
            <a:ext cx="952500" cy="952500"/>
          </a:xfrm>
          <a:prstGeom prst="star5">
            <a:avLst/>
          </a:prstGeom>
          <a:solidFill>
            <a:srgbClr val="5C77BC">
              <a:alpha val="36000"/>
            </a:srgbClr>
          </a:solidFill>
          <a:ln/>
        </p:spPr>
      </p:sp>
      <p:sp>
        <p:nvSpPr>
          <p:cNvPr id="8" name="deco6"/>
          <p:cNvSpPr/>
          <p:nvPr/>
        </p:nvSpPr>
        <p:spPr>
          <a:xfrm rot="2160000">
            <a:off x="9319260" y="5525135"/>
            <a:ext cx="1073150" cy="1073150"/>
          </a:xfrm>
          <a:prstGeom prst="pentagon">
            <a:avLst/>
          </a:prstGeom>
          <a:solidFill>
            <a:srgbClr val="EFC45E">
              <a:alpha val="28000"/>
            </a:srgbClr>
          </a:solidFill>
          <a:ln/>
        </p:spPr>
      </p:sp>
      <p:sp>
        <p:nvSpPr>
          <p:cNvPr id="9" name="deco7"/>
          <p:cNvSpPr/>
          <p:nvPr/>
        </p:nvSpPr>
        <p:spPr>
          <a:xfrm rot="480000">
            <a:off x="831850" y="1210310"/>
            <a:ext cx="1054100" cy="1054100"/>
          </a:xfrm>
          <a:prstGeom prst="pentagon">
            <a:avLst/>
          </a:prstGeom>
          <a:solidFill>
            <a:srgbClr val="8FA0D2">
              <a:alpha val="27000"/>
            </a:srgbClr>
          </a:solidFill>
          <a:ln/>
        </p:spPr>
      </p:sp>
      <p:sp>
        <p:nvSpPr>
          <p:cNvPr id="10" name="deco8"/>
          <p:cNvSpPr/>
          <p:nvPr/>
        </p:nvSpPr>
        <p:spPr>
          <a:xfrm>
            <a:off x="14390370" y="2463800"/>
            <a:ext cx="1568450" cy="1568450"/>
          </a:xfrm>
          <a:prstGeom prst="ellipse">
            <a:avLst/>
          </a:prstGeom>
          <a:solidFill>
            <a:srgbClr val="EFC45E">
              <a:alpha val="34000"/>
            </a:srgbClr>
          </a:solidFill>
          <a:ln/>
        </p:spPr>
      </p:sp>
      <p:sp>
        <p:nvSpPr>
          <p:cNvPr id="11" name="cardFrame"/>
          <p:cNvSpPr/>
          <p:nvPr/>
        </p:nvSpPr>
        <p:spPr>
          <a:xfrm>
            <a:off x="981075" y="866140"/>
            <a:ext cx="10138410" cy="5457825"/>
          </a:xfrm>
          <a:prstGeom prst="rect">
            <a:avLst/>
          </a:prstGeom>
          <a:ln w="38100">
            <a:solidFill>
              <a:srgbClr val="5C77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675" y="1259840"/>
            <a:ext cx="91732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i="1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quality remains primary training requirement</a:t>
            </a:r>
            <a:endParaRPr lang="en-US" sz="3100" dirty="0"/>
          </a:p>
        </p:txBody>
      </p:sp>
      <p:sp>
        <p:nvSpPr>
          <p:cNvPr id="13" name="Shape 11"/>
          <p:cNvSpPr/>
          <p:nvPr/>
        </p:nvSpPr>
        <p:spPr>
          <a:xfrm>
            <a:off x="1463675" y="1888490"/>
            <a:ext cx="9173210" cy="12700"/>
          </a:xfrm>
          <a:prstGeom prst="rect">
            <a:avLst/>
          </a:prstGeom>
          <a:solidFill>
            <a:srgbClr val="5C77BC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63675" y="2072640"/>
            <a:ext cx="917321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Escalating compute budgets yield diminishing returns on uncurated data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63675" y="2606040"/>
            <a:ext cx="9173210" cy="3324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xmlns:p14="http://schemas.microsoft.com/office/powerpoint/2010/main" spd="slow" p14:dur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 accel="20000" decel="4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 accel="20000" decel="4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 accel="20000" decel="4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 accel="20000" decel="4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 accel="20000" decel="4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 name="Slide 9">
    <p:bg>
      <p:bgPr>
        <a:solidFill>
          <a:srgbClr val="DFE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0"/>
          <p:cNvSpPr/>
          <p:nvPr/>
        </p:nvSpPr>
        <p:spPr>
          <a:xfrm rot="2760000">
            <a:off x="5774690" y="7456170"/>
            <a:ext cx="1974850" cy="1974850"/>
          </a:xfrm>
          <a:prstGeom prst="hexagon">
            <a:avLst/>
          </a:prstGeom>
          <a:solidFill>
            <a:srgbClr val="EFC45E">
              <a:alpha val="17000"/>
            </a:srgbClr>
          </a:solidFill>
          <a:ln/>
        </p:spPr>
      </p:sp>
      <p:sp>
        <p:nvSpPr>
          <p:cNvPr id="3" name="deco1"/>
          <p:cNvSpPr/>
          <p:nvPr/>
        </p:nvSpPr>
        <p:spPr>
          <a:xfrm>
            <a:off x="14274800" y="4384040"/>
            <a:ext cx="1079500" cy="1079500"/>
          </a:xfrm>
          <a:prstGeom prst="ellipse">
            <a:avLst/>
          </a:prstGeom>
          <a:solidFill>
            <a:srgbClr val="8FA0D2">
              <a:alpha val="30000"/>
            </a:srgbClr>
          </a:solidFill>
          <a:ln/>
        </p:spPr>
      </p:sp>
      <p:sp>
        <p:nvSpPr>
          <p:cNvPr id="4" name="deco2"/>
          <p:cNvSpPr/>
          <p:nvPr/>
        </p:nvSpPr>
        <p:spPr>
          <a:xfrm rot="-2040000">
            <a:off x="-2363470" y="6019165"/>
            <a:ext cx="1638300" cy="1638300"/>
          </a:xfrm>
          <a:prstGeom prst="ellipse">
            <a:avLst/>
          </a:prstGeom>
          <a:solidFill>
            <a:srgbClr val="EFC45E">
              <a:alpha val="18000"/>
            </a:srgbClr>
          </a:solidFill>
          <a:ln/>
        </p:spPr>
      </p:sp>
      <p:sp>
        <p:nvSpPr>
          <p:cNvPr id="5" name="deco3"/>
          <p:cNvSpPr/>
          <p:nvPr/>
        </p:nvSpPr>
        <p:spPr>
          <a:xfrm rot="3480000">
            <a:off x="2971800" y="1154430"/>
            <a:ext cx="1073150" cy="1073150"/>
          </a:xfrm>
          <a:prstGeom prst="ellipse">
            <a:avLst/>
          </a:prstGeom>
          <a:solidFill>
            <a:srgbClr val="5C77BC">
              <a:alpha val="11000"/>
            </a:srgbClr>
          </a:solidFill>
          <a:ln/>
        </p:spPr>
      </p:sp>
      <p:sp>
        <p:nvSpPr>
          <p:cNvPr id="6" name="deco4"/>
          <p:cNvSpPr/>
          <p:nvPr/>
        </p:nvSpPr>
        <p:spPr>
          <a:xfrm rot="-4320000">
            <a:off x="4979670" y="7789545"/>
            <a:ext cx="1441450" cy="1441450"/>
          </a:xfrm>
          <a:prstGeom prst="chevron">
            <a:avLst/>
          </a:prstGeom>
          <a:solidFill>
            <a:srgbClr val="EFC45E">
              <a:alpha val="19000"/>
            </a:srgbClr>
          </a:solidFill>
          <a:ln/>
        </p:spPr>
      </p:sp>
      <p:sp>
        <p:nvSpPr>
          <p:cNvPr id="7" name="deco5"/>
          <p:cNvSpPr/>
          <p:nvPr/>
        </p:nvSpPr>
        <p:spPr>
          <a:xfrm>
            <a:off x="4464685" y="4763135"/>
            <a:ext cx="952500" cy="952500"/>
          </a:xfrm>
          <a:prstGeom prst="star5">
            <a:avLst/>
          </a:prstGeom>
          <a:solidFill>
            <a:srgbClr val="5C77BC">
              <a:alpha val="36000"/>
            </a:srgbClr>
          </a:solidFill>
          <a:ln/>
        </p:spPr>
      </p:sp>
      <p:sp>
        <p:nvSpPr>
          <p:cNvPr id="8" name="deco6"/>
          <p:cNvSpPr/>
          <p:nvPr/>
        </p:nvSpPr>
        <p:spPr>
          <a:xfrm rot="3240000">
            <a:off x="9248140" y="5312410"/>
            <a:ext cx="1073150" cy="1073150"/>
          </a:xfrm>
          <a:prstGeom prst="pentagon">
            <a:avLst/>
          </a:prstGeom>
          <a:solidFill>
            <a:srgbClr val="EFC45E">
              <a:alpha val="28000"/>
            </a:srgbClr>
          </a:solidFill>
          <a:ln/>
        </p:spPr>
      </p:sp>
      <p:sp>
        <p:nvSpPr>
          <p:cNvPr id="9" name="deco7"/>
          <p:cNvSpPr/>
          <p:nvPr/>
        </p:nvSpPr>
        <p:spPr>
          <a:xfrm rot="960000">
            <a:off x="1106170" y="1113790"/>
            <a:ext cx="1054100" cy="1054100"/>
          </a:xfrm>
          <a:prstGeom prst="rightArrow">
            <a:avLst/>
          </a:prstGeom>
          <a:solidFill>
            <a:srgbClr val="8FA0D2">
              <a:alpha val="27000"/>
            </a:srgbClr>
          </a:solidFill>
          <a:ln/>
        </p:spPr>
      </p:sp>
      <p:sp>
        <p:nvSpPr>
          <p:cNvPr id="10" name="deco8"/>
          <p:cNvSpPr/>
          <p:nvPr/>
        </p:nvSpPr>
        <p:spPr>
          <a:xfrm rot="240000">
            <a:off x="10577195" y="2837180"/>
            <a:ext cx="1568450" cy="1568450"/>
          </a:xfrm>
          <a:prstGeom prst="ellipse">
            <a:avLst/>
          </a:prstGeom>
          <a:solidFill>
            <a:srgbClr val="EFC45E">
              <a:alpha val="34000"/>
            </a:srgbClr>
          </a:solidFill>
          <a:ln/>
        </p:spPr>
      </p:sp>
      <p:sp>
        <p:nvSpPr>
          <p:cNvPr id="11" name="cardFrame"/>
          <p:cNvSpPr/>
          <p:nvPr/>
        </p:nvSpPr>
        <p:spPr>
          <a:xfrm>
            <a:off x="981075" y="866140"/>
            <a:ext cx="10138410" cy="5457825"/>
          </a:xfrm>
          <a:prstGeom prst="rect">
            <a:avLst/>
          </a:prstGeom>
          <a:ln w="38100">
            <a:solidFill>
              <a:srgbClr val="5C77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232664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Any Questions?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0" y="2961640"/>
            <a:ext cx="1219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i="1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Thank You</a:t>
            </a:r>
            <a:endParaRPr lang="en-US" sz="6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xmlns:p14="http://schemas.microsoft.com/office/powerpoint/2010/main" spd="slow" p14:dur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 accel="20000" decel="4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 accel="20000" decel="4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 accel="20000" decel="4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 name="Slide 10">
    <p:bg>
      <p:bgPr>
        <a:solidFill>
          <a:srgbClr val="DFE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0"/>
          <p:cNvSpPr/>
          <p:nvPr/>
        </p:nvSpPr>
        <p:spPr>
          <a:xfrm rot="2760000">
            <a:off x="5652770" y="7413625"/>
            <a:ext cx="1974850" cy="1974850"/>
          </a:xfrm>
          <a:prstGeom prst="hexagon">
            <a:avLst/>
          </a:prstGeom>
          <a:solidFill>
            <a:srgbClr val="EFC45E">
              <a:alpha val="17000"/>
            </a:srgbClr>
          </a:solidFill>
          <a:ln/>
        </p:spPr>
      </p:sp>
      <p:sp>
        <p:nvSpPr>
          <p:cNvPr id="3" name="deco1"/>
          <p:cNvSpPr/>
          <p:nvPr/>
        </p:nvSpPr>
        <p:spPr>
          <a:xfrm>
            <a:off x="14139545" y="4336415"/>
            <a:ext cx="1079500" cy="1079500"/>
          </a:xfrm>
          <a:prstGeom prst="ellipse">
            <a:avLst/>
          </a:prstGeom>
          <a:solidFill>
            <a:srgbClr val="8FA0D2">
              <a:alpha val="30000"/>
            </a:srgbClr>
          </a:solidFill>
          <a:ln/>
        </p:spPr>
      </p:sp>
      <p:sp>
        <p:nvSpPr>
          <p:cNvPr id="4" name="deco2"/>
          <p:cNvSpPr/>
          <p:nvPr/>
        </p:nvSpPr>
        <p:spPr>
          <a:xfrm rot="-2040000">
            <a:off x="-2430780" y="5995035"/>
            <a:ext cx="1638300" cy="1638300"/>
          </a:xfrm>
          <a:prstGeom prst="ellipse">
            <a:avLst/>
          </a:prstGeom>
          <a:solidFill>
            <a:srgbClr val="EFC45E">
              <a:alpha val="18000"/>
            </a:srgbClr>
          </a:solidFill>
          <a:ln/>
        </p:spPr>
      </p:sp>
      <p:sp>
        <p:nvSpPr>
          <p:cNvPr id="5" name="deco3"/>
          <p:cNvSpPr/>
          <p:nvPr/>
        </p:nvSpPr>
        <p:spPr>
          <a:xfrm rot="3480000">
            <a:off x="2931160" y="1139825"/>
            <a:ext cx="1073150" cy="1073150"/>
          </a:xfrm>
          <a:prstGeom prst="ellipse">
            <a:avLst/>
          </a:prstGeom>
          <a:solidFill>
            <a:srgbClr val="5C77BC">
              <a:alpha val="11000"/>
            </a:srgbClr>
          </a:solidFill>
          <a:ln/>
        </p:spPr>
      </p:sp>
      <p:sp>
        <p:nvSpPr>
          <p:cNvPr id="6" name="deco4"/>
          <p:cNvSpPr/>
          <p:nvPr/>
        </p:nvSpPr>
        <p:spPr>
          <a:xfrm rot="-4320000">
            <a:off x="4871720" y="7751445"/>
            <a:ext cx="1441450" cy="1441450"/>
          </a:xfrm>
          <a:prstGeom prst="chevron">
            <a:avLst/>
          </a:prstGeom>
          <a:solidFill>
            <a:srgbClr val="EFC45E">
              <a:alpha val="19000"/>
            </a:srgbClr>
          </a:solidFill>
          <a:ln/>
        </p:spPr>
      </p:sp>
      <p:sp>
        <p:nvSpPr>
          <p:cNvPr id="7" name="deco5"/>
          <p:cNvSpPr/>
          <p:nvPr/>
        </p:nvSpPr>
        <p:spPr>
          <a:xfrm>
            <a:off x="3898265" y="4885055"/>
            <a:ext cx="952500" cy="952500"/>
          </a:xfrm>
          <a:prstGeom prst="star5">
            <a:avLst/>
          </a:prstGeom>
          <a:solidFill>
            <a:srgbClr val="5C77BC">
              <a:alpha val="36000"/>
            </a:srgbClr>
          </a:solidFill>
          <a:ln/>
        </p:spPr>
      </p:sp>
      <p:sp>
        <p:nvSpPr>
          <p:cNvPr id="8" name="deco6"/>
          <p:cNvSpPr/>
          <p:nvPr/>
        </p:nvSpPr>
        <p:spPr>
          <a:xfrm rot="4320000">
            <a:off x="8776335" y="5372735"/>
            <a:ext cx="1073150" cy="1073150"/>
          </a:xfrm>
          <a:prstGeom prst="pentagon">
            <a:avLst/>
          </a:prstGeom>
          <a:solidFill>
            <a:srgbClr val="EFC45E">
              <a:alpha val="28000"/>
            </a:srgbClr>
          </a:solidFill>
          <a:ln/>
        </p:spPr>
      </p:sp>
      <p:sp>
        <p:nvSpPr>
          <p:cNvPr id="9" name="deco7"/>
          <p:cNvSpPr/>
          <p:nvPr/>
        </p:nvSpPr>
        <p:spPr>
          <a:xfrm rot="1440000">
            <a:off x="1052195" y="948055"/>
            <a:ext cx="1054100" cy="1054100"/>
          </a:xfrm>
          <a:prstGeom prst="rightArrow">
            <a:avLst/>
          </a:prstGeom>
          <a:solidFill>
            <a:srgbClr val="8FA0D2">
              <a:alpha val="27000"/>
            </a:srgbClr>
          </a:solidFill>
          <a:ln/>
        </p:spPr>
      </p:sp>
      <p:sp>
        <p:nvSpPr>
          <p:cNvPr id="10" name="deco8"/>
          <p:cNvSpPr/>
          <p:nvPr/>
        </p:nvSpPr>
        <p:spPr>
          <a:xfrm rot="540000">
            <a:off x="10829925" y="2747010"/>
            <a:ext cx="1568450" cy="1568450"/>
          </a:xfrm>
          <a:prstGeom prst="blockArc">
            <a:avLst/>
          </a:prstGeom>
          <a:solidFill>
            <a:srgbClr val="EFC45E">
              <a:alpha val="34000"/>
            </a:srgbClr>
          </a:solidFill>
          <a:ln/>
        </p:spPr>
      </p:sp>
      <p:sp>
        <p:nvSpPr>
          <p:cNvPr id="11" name="cardFrame"/>
          <p:cNvSpPr/>
          <p:nvPr/>
        </p:nvSpPr>
        <p:spPr>
          <a:xfrm>
            <a:off x="981075" y="866140"/>
            <a:ext cx="10138410" cy="5457825"/>
          </a:xfrm>
          <a:prstGeom prst="rect">
            <a:avLst/>
          </a:prstGeom>
          <a:ln w="38100">
            <a:solidFill>
              <a:srgbClr val="5C77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675" y="1259840"/>
            <a:ext cx="91732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i="1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References</a:t>
            </a:r>
            <a:endParaRPr lang="en-US" sz="3100" dirty="0"/>
          </a:p>
        </p:txBody>
      </p:sp>
      <p:sp>
        <p:nvSpPr>
          <p:cNvPr id="13" name="Shape 11"/>
          <p:cNvSpPr/>
          <p:nvPr/>
        </p:nvSpPr>
        <p:spPr>
          <a:xfrm>
            <a:off x="1463675" y="1888490"/>
            <a:ext cx="9173210" cy="12700"/>
          </a:xfrm>
          <a:prstGeom prst="rect">
            <a:avLst/>
          </a:prstGeom>
          <a:solidFill>
            <a:srgbClr val="5C77BC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63675" y="2072640"/>
            <a:ext cx="9173210" cy="3857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Touvron, H., Lavril, T., Izacard, G., Martinet, X., Lachaux, M., Lacroix, T., … Lample, G. (2023). LLaMA: Open and Efficient Foundation Language Models. arXiv (Cornell University). https://doi.org/10.48550/arxiv.2302.13971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xmlns:p14="http://schemas.microsoft.com/office/powerpoint/2010/main" spd="slow" p14:dur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 accel="20000" decel="4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 accel="20000" decel="4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 accel="20000" decel="4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 accel="20000" decel="4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requirement for training ai model</dc:title>
  <dc:subject>PptxGenJS Presentation</dc:subject>
  <dc:creator>Fuad Ahmed</dc:creator>
  <cp:lastModifiedBy>Fuad Ahmed</cp:lastModifiedBy>
  <cp:revision>1</cp:revision>
  <dcterms:created xsi:type="dcterms:W3CDTF">2026-08-10T08:56:37Z</dcterms:created>
  <dcterms:modified xsi:type="dcterms:W3CDTF">2026-08-10T08:56:37Z</dcterms:modified>
</cp:coreProperties>
</file>